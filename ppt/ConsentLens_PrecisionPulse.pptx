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56474"/>
    <a:srgbClr val="B3B3B3"/>
    <a:srgbClr val="7D7D8C"/>
    <a:srgbClr val="737184"/>
    <a:srgbClr val="66657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2" d="100"/>
          <a:sy n="112" d="100"/>
        </p:scale>
        <p:origin x="162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0410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Premium open — minimal text, maximum visual impact. Hit the tagline.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gap is clear: information asymmetry. Developers know everything. Users know nothing.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Privacy-first, plain-language, zero friction. Competitors make it hard. We make it instant.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left to right. ArmorIQ is Step 2 — before any data touches AI.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Feature 01 and 05 together prove the privacy promise in code.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DPDP Act 2023 angle is strong for Indian judges. ₹0 deployment is a real feasibility win.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06 is the killer moment. Close with energy.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5050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83309" y="610255"/>
            <a:ext cx="6858000" cy="51435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>
            <a:alphaModFix amt="80000"/>
          </a:blip>
          <a:stretch>
            <a:fillRect/>
          </a:stretch>
        </p:blipFill>
        <p:spPr>
          <a:xfrm>
            <a:off x="0" y="0"/>
            <a:ext cx="3657600" cy="51435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437117" y="2293111"/>
            <a:ext cx="5120640" cy="6483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GB" sz="1600" dirty="0">
                <a:solidFill>
                  <a:srgbClr val="737184"/>
                </a:solidFill>
              </a:rPr>
              <a:t>Know What Your Apps</a:t>
            </a:r>
          </a:p>
          <a:p>
            <a:pPr marL="0" indent="0">
              <a:buNone/>
            </a:pPr>
            <a:r>
              <a:rPr lang="en-GB" sz="1600" dirty="0">
                <a:solidFill>
                  <a:srgbClr val="737184"/>
                </a:solidFill>
              </a:rPr>
              <a:t>Really Know About You</a:t>
            </a:r>
          </a:p>
          <a:p>
            <a:pPr marL="0" indent="0">
              <a:buNone/>
            </a:pPr>
            <a:endParaRPr lang="en-GB" sz="1600" dirty="0">
              <a:solidFill>
                <a:srgbClr val="737184"/>
              </a:solidFill>
            </a:endParaRPr>
          </a:p>
          <a:p>
            <a:pPr marL="0" indent="0">
              <a:buNone/>
            </a:pPr>
            <a:r>
              <a:rPr lang="en-GB" sz="1600" dirty="0">
                <a:solidFill>
                  <a:srgbClr val="737184"/>
                </a:solidFill>
              </a:rPr>
              <a:t>You clicked 'Allow' 47 times this week.</a:t>
            </a:r>
          </a:p>
          <a:p>
            <a:pPr marL="0" indent="0">
              <a:buNone/>
            </a:pPr>
            <a:r>
              <a:rPr lang="en-GB" sz="1600" dirty="0">
                <a:solidFill>
                  <a:srgbClr val="737184"/>
                </a:solidFill>
              </a:rPr>
              <a:t>Here's exactly what you gave away</a:t>
            </a:r>
            <a:r>
              <a:rPr lang="en-GB" sz="1600" dirty="0">
                <a:solidFill>
                  <a:schemeClr val="bg1"/>
                </a:solidFill>
              </a:rPr>
              <a:t>.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5" name="Text 1"/>
          <p:cNvSpPr/>
          <p:nvPr/>
        </p:nvSpPr>
        <p:spPr>
          <a:xfrm>
            <a:off x="343114" y="525780"/>
            <a:ext cx="5029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CONSENT</a:t>
            </a:r>
            <a:endParaRPr lang="en-US" sz="6000" dirty="0"/>
          </a:p>
        </p:txBody>
      </p:sp>
      <p:sp>
        <p:nvSpPr>
          <p:cNvPr id="6" name="Text 2"/>
          <p:cNvSpPr/>
          <p:nvPr/>
        </p:nvSpPr>
        <p:spPr>
          <a:xfrm>
            <a:off x="3316194" y="548640"/>
            <a:ext cx="5029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200" dirty="0">
                <a:solidFill>
                  <a:srgbClr val="A78BF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Lens.</a:t>
            </a:r>
            <a:endParaRPr lang="en-US" sz="6200" dirty="0"/>
          </a:p>
        </p:txBody>
      </p:sp>
      <p:sp>
        <p:nvSpPr>
          <p:cNvPr id="7" name="Shape 3"/>
          <p:cNvSpPr/>
          <p:nvPr/>
        </p:nvSpPr>
        <p:spPr>
          <a:xfrm>
            <a:off x="411480" y="490229"/>
            <a:ext cx="2286000" cy="22860"/>
          </a:xfrm>
          <a:prstGeom prst="rect">
            <a:avLst/>
          </a:prstGeom>
          <a:solidFill>
            <a:srgbClr val="888899">
              <a:alpha val="60000"/>
            </a:srgbClr>
          </a:solidFill>
          <a:ln w="12700">
            <a:solidFill>
              <a:srgbClr val="888899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5960692" y="4166074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endParaRPr lang="en-US" sz="1000" dirty="0"/>
          </a:p>
        </p:txBody>
      </p:sp>
      <p:sp>
        <p:nvSpPr>
          <p:cNvPr id="9" name="Text 5"/>
          <p:cNvSpPr/>
          <p:nvPr/>
        </p:nvSpPr>
        <p:spPr>
          <a:xfrm>
            <a:off x="5960692" y="4419970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endParaRPr lang="en-US" sz="950" dirty="0"/>
          </a:p>
        </p:txBody>
      </p:sp>
      <p:sp>
        <p:nvSpPr>
          <p:cNvPr id="10" name="Text 6"/>
          <p:cNvSpPr/>
          <p:nvPr/>
        </p:nvSpPr>
        <p:spPr>
          <a:xfrm>
            <a:off x="440109" y="4277213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kern="0" spc="50" dirty="0">
                <a:solidFill>
                  <a:srgbClr val="88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3Musketeers</a:t>
            </a:r>
          </a:p>
          <a:p>
            <a:pPr marL="0" indent="0">
              <a:buNone/>
            </a:pPr>
            <a:r>
              <a:rPr lang="en-US" sz="1050" kern="0" spc="50" dirty="0">
                <a:solidFill>
                  <a:srgbClr val="88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Masters' Union, Gurugram</a:t>
            </a:r>
          </a:p>
          <a:p>
            <a:pPr marL="0" indent="0">
              <a:buNone/>
            </a:pPr>
            <a:endParaRPr lang="en-US" sz="1050" kern="0" spc="50" dirty="0">
              <a:solidFill>
                <a:srgbClr val="888899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r>
              <a:rPr lang="en-US" sz="1050" kern="0" spc="50" dirty="0" err="1">
                <a:solidFill>
                  <a:srgbClr val="88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NeuroX</a:t>
            </a:r>
            <a:r>
              <a:rPr lang="en-US" sz="1050" kern="0" spc="50" dirty="0">
                <a:solidFill>
                  <a:srgbClr val="88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Hackathon 2026</a:t>
            </a:r>
          </a:p>
          <a:p>
            <a:pPr marL="0" indent="0">
              <a:buNone/>
            </a:pPr>
            <a:r>
              <a:rPr lang="en-US" sz="1050" kern="0" spc="50" dirty="0">
                <a:solidFill>
                  <a:srgbClr val="88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3 – Reimagine Security</a:t>
            </a:r>
            <a:endParaRPr lang="en-US" sz="1050" dirty="0">
              <a:solidFill>
                <a:srgbClr val="666575"/>
              </a:solidFill>
            </a:endParaRPr>
          </a:p>
        </p:txBody>
      </p:sp>
      <p:sp>
        <p:nvSpPr>
          <p:cNvPr id="11" name="Shape 3">
            <a:extLst>
              <a:ext uri="{FF2B5EF4-FFF2-40B4-BE49-F238E27FC236}">
                <a16:creationId xmlns:a16="http://schemas.microsoft.com/office/drawing/2014/main" id="{9327C06B-140C-EBFD-B320-18348FF6018E}"/>
              </a:ext>
            </a:extLst>
          </p:cNvPr>
          <p:cNvSpPr/>
          <p:nvPr/>
        </p:nvSpPr>
        <p:spPr>
          <a:xfrm>
            <a:off x="2562883" y="488712"/>
            <a:ext cx="2286000" cy="22860"/>
          </a:xfrm>
          <a:prstGeom prst="rect">
            <a:avLst/>
          </a:prstGeom>
          <a:solidFill>
            <a:srgbClr val="888899">
              <a:alpha val="60000"/>
            </a:srgbClr>
          </a:solidFill>
          <a:ln w="12700">
            <a:solidFill>
              <a:srgbClr val="888899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5050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0" y="0"/>
            <a:ext cx="4114800" cy="25603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34747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kern="0" spc="200" dirty="0">
                <a:solidFill>
                  <a:srgbClr val="88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/  PROBLEM + EXISTING GAP</a:t>
            </a:r>
            <a:endParaRPr lang="en-US" sz="950" dirty="0"/>
          </a:p>
        </p:txBody>
      </p:sp>
      <p:sp>
        <p:nvSpPr>
          <p:cNvPr id="4" name="Text 1"/>
          <p:cNvSpPr/>
          <p:nvPr/>
        </p:nvSpPr>
        <p:spPr>
          <a:xfrm>
            <a:off x="457200" y="685800"/>
            <a:ext cx="4572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The gap is</a:t>
            </a:r>
            <a:endParaRPr lang="en-US" sz="4200" dirty="0"/>
          </a:p>
          <a:p>
            <a:pPr marL="0" indent="0">
              <a:buNone/>
            </a:pPr>
            <a:r>
              <a:rPr lang="en-US" sz="42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critical.</a:t>
            </a:r>
            <a:endParaRPr lang="en-US" sz="4200" dirty="0"/>
          </a:p>
        </p:txBody>
      </p:sp>
      <p:sp>
        <p:nvSpPr>
          <p:cNvPr id="5" name="Shape 2"/>
          <p:cNvSpPr/>
          <p:nvPr/>
        </p:nvSpPr>
        <p:spPr>
          <a:xfrm>
            <a:off x="457200" y="1938528"/>
            <a:ext cx="1371600" cy="22860"/>
          </a:xfrm>
          <a:prstGeom prst="rect">
            <a:avLst/>
          </a:prstGeom>
          <a:solidFill>
            <a:srgbClr val="A78BFA">
              <a:alpha val="70000"/>
            </a:srgbClr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457200" y="2103120"/>
            <a:ext cx="2560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dirty="0">
                <a:solidFill>
                  <a:srgbClr val="A78BF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12×</a:t>
            </a:r>
            <a:endParaRPr lang="en-US" sz="4800" dirty="0"/>
          </a:p>
        </p:txBody>
      </p:sp>
      <p:sp>
        <p:nvSpPr>
          <p:cNvPr id="7" name="Text 4"/>
          <p:cNvSpPr/>
          <p:nvPr/>
        </p:nvSpPr>
        <p:spPr>
          <a:xfrm>
            <a:off x="457200" y="2907792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permissions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88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app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3291840" y="2103120"/>
            <a:ext cx="2560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80+</a:t>
            </a:r>
            <a:endParaRPr lang="en-US" sz="4800" dirty="0"/>
          </a:p>
        </p:txBody>
      </p:sp>
      <p:sp>
        <p:nvSpPr>
          <p:cNvPr id="9" name="Text 6"/>
          <p:cNvSpPr/>
          <p:nvPr/>
        </p:nvSpPr>
        <p:spPr>
          <a:xfrm>
            <a:off x="3291840" y="2907792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apps on your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88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 right now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6126480" y="2103120"/>
            <a:ext cx="2560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dirty="0">
                <a:solidFill>
                  <a:srgbClr val="88889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0%</a:t>
            </a:r>
            <a:endParaRPr lang="en-US" sz="4800" dirty="0"/>
          </a:p>
        </p:txBody>
      </p:sp>
      <p:sp>
        <p:nvSpPr>
          <p:cNvPr id="11" name="Text 8"/>
          <p:cNvSpPr/>
          <p:nvPr/>
        </p:nvSpPr>
        <p:spPr>
          <a:xfrm>
            <a:off x="6126480" y="2907792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read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88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 policies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457200" y="3520440"/>
            <a:ext cx="8321040" cy="10973"/>
          </a:xfrm>
          <a:prstGeom prst="rect">
            <a:avLst/>
          </a:prstGeom>
          <a:solidFill>
            <a:srgbClr val="8B5CF6">
              <a:alpha val="40000"/>
            </a:srgbClr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57200" y="36576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tools fall short —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457200" y="4005072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8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App Store Labels  ·  Jargon-heavy, no risk score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4754880" y="4005072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8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Exodus Privacy  ·  Dev-focused, needs APK upload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457200" y="4462272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8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Privacy Policies  ·  45+ pages of legalese — unread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4754880" y="4462272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8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DuckDuckGo Protect  ·  Blocks silently, no user education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0" y="4828032"/>
            <a:ext cx="9144000" cy="315468"/>
          </a:xfrm>
          <a:prstGeom prst="rect">
            <a:avLst/>
          </a:prstGeom>
          <a:solidFill>
            <a:srgbClr val="6B3FA0">
              <a:alpha val="30000"/>
            </a:srgbClr>
          </a:solidFill>
          <a:ln w="12700">
            <a:solidFill>
              <a:srgbClr val="6B3FA0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57200" y="4828032"/>
            <a:ext cx="8412480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tool exists that takes just an app name and explains what it harvests — in plain language, scored by risk.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5050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457200" y="0"/>
            <a:ext cx="4572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34747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kern="0" spc="200" dirty="0">
                <a:solidFill>
                  <a:srgbClr val="88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/  PROPOSED SOLUTION</a:t>
            </a:r>
            <a:endParaRPr lang="en-US" sz="950" dirty="0"/>
          </a:p>
        </p:txBody>
      </p:sp>
      <p:sp>
        <p:nvSpPr>
          <p:cNvPr id="4" name="Text 1"/>
          <p:cNvSpPr/>
          <p:nvPr/>
        </p:nvSpPr>
        <p:spPr>
          <a:xfrm>
            <a:off x="457200" y="685800"/>
            <a:ext cx="6400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6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ConsentLens.</a:t>
            </a:r>
            <a:endParaRPr lang="en-US" sz="4600" dirty="0"/>
          </a:p>
        </p:txBody>
      </p:sp>
      <p:sp>
        <p:nvSpPr>
          <p:cNvPr id="5" name="Shape 2"/>
          <p:cNvSpPr/>
          <p:nvPr/>
        </p:nvSpPr>
        <p:spPr>
          <a:xfrm>
            <a:off x="457200" y="1664208"/>
            <a:ext cx="8321040" cy="10973"/>
          </a:xfrm>
          <a:prstGeom prst="rect">
            <a:avLst/>
          </a:prstGeom>
          <a:solidFill>
            <a:srgbClr val="8B5CF6">
              <a:alpha val="45000"/>
            </a:srgbClr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457200" y="1755648"/>
            <a:ext cx="8321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8E8E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Type any app name → get a plain-English breakdown of what data it collects, why it's risky, and what to do about it.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8E8E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Zero personal information required. No login. No install.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457200" y="2578608"/>
            <a:ext cx="2606040" cy="22860"/>
          </a:xfrm>
          <a:prstGeom prst="rect">
            <a:avLst/>
          </a:prstGeom>
          <a:solidFill>
            <a:srgbClr val="A78BFA">
              <a:alpha val="60000"/>
            </a:srgbClr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57200" y="2697480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Solves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457200" y="3127248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User types app name(s) — no PII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457200" y="3566160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D7D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r>
              <a:rPr lang="en-GB" sz="1100" dirty="0">
                <a:solidFill>
                  <a:srgbClr val="7D7D8C"/>
                </a:solidFill>
              </a:rPr>
              <a:t>AI converts technical permissions into real-   world consequences.</a:t>
            </a:r>
            <a:endParaRPr lang="en-US" sz="1100" dirty="0">
              <a:solidFill>
                <a:srgbClr val="7D7D8C"/>
              </a:solidFill>
            </a:endParaRPr>
          </a:p>
        </p:txBody>
      </p:sp>
      <p:sp>
        <p:nvSpPr>
          <p:cNvPr id="11" name="Text 8"/>
          <p:cNvSpPr/>
          <p:nvPr/>
        </p:nvSpPr>
        <p:spPr>
          <a:xfrm>
            <a:off x="457200" y="4005072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Risk score: LOW / MEDIUM / HIGH / CRITICAL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457200" y="4443984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Actionable 'What to do' per app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3291840" y="2578608"/>
            <a:ext cx="2606040" cy="22860"/>
          </a:xfrm>
          <a:prstGeom prst="rect">
            <a:avLst/>
          </a:prstGeom>
          <a:solidFill>
            <a:srgbClr val="FFFFFF">
              <a:alpha val="6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3291840" y="2697480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Than Existing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3291840" y="3127248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Zero signup or account needed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3291840" y="3566160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Plain English — not tech jargon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3291840" y="4005072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Multi-app comparison in one view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3291840" y="4443984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Real-time AI explanation at scale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6126480" y="2578608"/>
            <a:ext cx="2606040" cy="22860"/>
          </a:xfrm>
          <a:prstGeom prst="rect">
            <a:avLst/>
          </a:prstGeom>
          <a:solidFill>
            <a:srgbClr val="A78BFA">
              <a:alpha val="60000"/>
            </a:srgbClr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126480" y="2697480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Privacy Promise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6126480" y="3127248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Only app names ever enter system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6126480" y="3566160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ArmorIQ enforces zero-PII policy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6126480" y="4005072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Input blocked if PII detected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6126480" y="4443984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Audit log proves every decision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5050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0" y="0"/>
            <a:ext cx="41148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347472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kern="0" spc="200" dirty="0">
                <a:solidFill>
                  <a:srgbClr val="88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/  ARCHITECTURE + TECH STACK</a:t>
            </a:r>
            <a:endParaRPr lang="en-US" sz="950" dirty="0"/>
          </a:p>
        </p:txBody>
      </p:sp>
      <p:sp>
        <p:nvSpPr>
          <p:cNvPr id="4" name="Text 1"/>
          <p:cNvSpPr/>
          <p:nvPr/>
        </p:nvSpPr>
        <p:spPr>
          <a:xfrm>
            <a:off x="457200" y="685800"/>
            <a:ext cx="4114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System</a:t>
            </a:r>
            <a:endParaRPr lang="en-US" sz="4200" dirty="0"/>
          </a:p>
          <a:p>
            <a:pPr marL="0" indent="0">
              <a:buNone/>
            </a:pPr>
            <a:r>
              <a:rPr lang="en-US" sz="42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flow.</a:t>
            </a:r>
            <a:endParaRPr lang="en-US" sz="4200" dirty="0"/>
          </a:p>
        </p:txBody>
      </p:sp>
      <p:sp>
        <p:nvSpPr>
          <p:cNvPr id="5" name="Text 2"/>
          <p:cNvSpPr/>
          <p:nvPr/>
        </p:nvSpPr>
        <p:spPr>
          <a:xfrm>
            <a:off x="457200" y="2029968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10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457200" y="2377440"/>
            <a:ext cx="1508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457200" y="2697480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Name(s)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457200" y="2359152"/>
            <a:ext cx="1417320" cy="18288"/>
          </a:xfrm>
          <a:prstGeom prst="rect">
            <a:avLst/>
          </a:prstGeom>
          <a:solidFill>
            <a:srgbClr val="8B5CF6">
              <a:alpha val="50000"/>
            </a:srgbClr>
          </a:solidFill>
          <a:ln w="12700">
            <a:solidFill>
              <a:srgbClr val="888899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901952" y="239572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2176272" y="2029968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10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2176272" y="2377440"/>
            <a:ext cx="1508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2176272" y="2697480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ArmorIQ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2176272" y="2359152"/>
            <a:ext cx="1417320" cy="18288"/>
          </a:xfrm>
          <a:prstGeom prst="rect">
            <a:avLst/>
          </a:prstGeom>
          <a:solidFill>
            <a:srgbClr val="888899">
              <a:alpha val="50000"/>
            </a:srgbClr>
          </a:solidFill>
          <a:ln w="12700">
            <a:solidFill>
              <a:srgbClr val="888899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3621024" y="239572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3895344" y="2029968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10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3895344" y="2377440"/>
            <a:ext cx="1508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LOOKUP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3895344" y="2697480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Permission DB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3895344" y="2359152"/>
            <a:ext cx="1417320" cy="18288"/>
          </a:xfrm>
          <a:prstGeom prst="rect">
            <a:avLst/>
          </a:prstGeom>
          <a:solidFill>
            <a:srgbClr val="8B5CF6">
              <a:alpha val="50000"/>
            </a:srgbClr>
          </a:solidFill>
          <a:ln w="12700">
            <a:solidFill>
              <a:srgbClr val="888899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340096" y="239572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5614416" y="2029968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10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5614416" y="2377440"/>
            <a:ext cx="1508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5614416" y="2697480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Analysis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5614416" y="2359152"/>
            <a:ext cx="1417320" cy="18288"/>
          </a:xfrm>
          <a:prstGeom prst="rect">
            <a:avLst/>
          </a:prstGeom>
          <a:solidFill>
            <a:srgbClr val="888899">
              <a:alpha val="50000"/>
            </a:srgbClr>
          </a:solidFill>
          <a:ln w="12700">
            <a:solidFill>
              <a:srgbClr val="888899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7059168" y="239572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7333488" y="2029968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10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  <p:sp>
        <p:nvSpPr>
          <p:cNvPr id="26" name="Text 23"/>
          <p:cNvSpPr/>
          <p:nvPr/>
        </p:nvSpPr>
        <p:spPr>
          <a:xfrm>
            <a:off x="7333488" y="2377440"/>
            <a:ext cx="1508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200" dirty="0"/>
          </a:p>
        </p:txBody>
      </p:sp>
      <p:sp>
        <p:nvSpPr>
          <p:cNvPr id="27" name="Text 24"/>
          <p:cNvSpPr/>
          <p:nvPr/>
        </p:nvSpPr>
        <p:spPr>
          <a:xfrm>
            <a:off x="7333488" y="2697480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Report</a:t>
            </a:r>
            <a:endParaRPr lang="en-US" sz="1000" dirty="0"/>
          </a:p>
        </p:txBody>
      </p:sp>
      <p:sp>
        <p:nvSpPr>
          <p:cNvPr id="28" name="Shape 25"/>
          <p:cNvSpPr/>
          <p:nvPr/>
        </p:nvSpPr>
        <p:spPr>
          <a:xfrm>
            <a:off x="7333488" y="2359152"/>
            <a:ext cx="1417320" cy="18288"/>
          </a:xfrm>
          <a:prstGeom prst="rect">
            <a:avLst/>
          </a:prstGeom>
          <a:solidFill>
            <a:srgbClr val="8B5CF6">
              <a:alpha val="50000"/>
            </a:srgbClr>
          </a:solidFill>
          <a:ln w="12700">
            <a:solidFill>
              <a:srgbClr val="888899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457200" y="3063240"/>
            <a:ext cx="4572000" cy="10973"/>
          </a:xfrm>
          <a:prstGeom prst="rect">
            <a:avLst/>
          </a:prstGeom>
          <a:solidFill>
            <a:srgbClr val="8B5CF6">
              <a:alpha val="40000"/>
            </a:srgbClr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457200" y="3246120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 —</a:t>
            </a:r>
            <a:endParaRPr lang="en-US" sz="1050" dirty="0"/>
          </a:p>
        </p:txBody>
      </p:sp>
      <p:sp>
        <p:nvSpPr>
          <p:cNvPr id="31" name="Text 28"/>
          <p:cNvSpPr/>
          <p:nvPr/>
        </p:nvSpPr>
        <p:spPr>
          <a:xfrm>
            <a:off x="1719072" y="3246120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8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+ Vite + Tailwind CSS</a:t>
            </a:r>
            <a:endParaRPr lang="en-US" sz="1050" dirty="0"/>
          </a:p>
        </p:txBody>
      </p:sp>
      <p:sp>
        <p:nvSpPr>
          <p:cNvPr id="32" name="Text 29"/>
          <p:cNvSpPr/>
          <p:nvPr/>
        </p:nvSpPr>
        <p:spPr>
          <a:xfrm>
            <a:off x="4663440" y="3246120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 —</a:t>
            </a:r>
            <a:endParaRPr lang="en-US" sz="1050" dirty="0"/>
          </a:p>
        </p:txBody>
      </p:sp>
      <p:sp>
        <p:nvSpPr>
          <p:cNvPr id="33" name="Text 30"/>
          <p:cNvSpPr/>
          <p:nvPr/>
        </p:nvSpPr>
        <p:spPr>
          <a:xfrm>
            <a:off x="5925312" y="3246120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8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+ Express</a:t>
            </a:r>
            <a:endParaRPr lang="en-US" sz="1050" dirty="0"/>
          </a:p>
        </p:txBody>
      </p:sp>
      <p:sp>
        <p:nvSpPr>
          <p:cNvPr id="34" name="Text 31"/>
          <p:cNvSpPr/>
          <p:nvPr/>
        </p:nvSpPr>
        <p:spPr>
          <a:xfrm>
            <a:off x="457200" y="3739896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Engine  —</a:t>
            </a:r>
            <a:endParaRPr lang="en-US" sz="1050" dirty="0"/>
          </a:p>
        </p:txBody>
      </p:sp>
      <p:sp>
        <p:nvSpPr>
          <p:cNvPr id="35" name="Text 32"/>
          <p:cNvSpPr/>
          <p:nvPr/>
        </p:nvSpPr>
        <p:spPr>
          <a:xfrm>
            <a:off x="1719072" y="3739896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8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(claude-sonnet-4-6) via Anthropic API</a:t>
            </a:r>
            <a:endParaRPr lang="en-US" sz="1050" dirty="0"/>
          </a:p>
        </p:txBody>
      </p:sp>
      <p:sp>
        <p:nvSpPr>
          <p:cNvPr id="36" name="Text 33"/>
          <p:cNvSpPr/>
          <p:nvPr/>
        </p:nvSpPr>
        <p:spPr>
          <a:xfrm>
            <a:off x="4663440" y="3739896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 —</a:t>
            </a:r>
            <a:endParaRPr lang="en-US" sz="1050" dirty="0"/>
          </a:p>
        </p:txBody>
      </p:sp>
      <p:sp>
        <p:nvSpPr>
          <p:cNvPr id="37" name="Text 34"/>
          <p:cNvSpPr/>
          <p:nvPr/>
        </p:nvSpPr>
        <p:spPr>
          <a:xfrm>
            <a:off x="5925312" y="3739896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8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ArmorIQ SDK: PII blocking + audit logging</a:t>
            </a:r>
            <a:endParaRPr lang="en-US" sz="1050" dirty="0"/>
          </a:p>
        </p:txBody>
      </p:sp>
      <p:sp>
        <p:nvSpPr>
          <p:cNvPr id="38" name="Text 35"/>
          <p:cNvSpPr/>
          <p:nvPr/>
        </p:nvSpPr>
        <p:spPr>
          <a:xfrm>
            <a:off x="457200" y="4233672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 —</a:t>
            </a:r>
            <a:endParaRPr lang="en-US" sz="1050" dirty="0"/>
          </a:p>
        </p:txBody>
      </p:sp>
      <p:sp>
        <p:nvSpPr>
          <p:cNvPr id="39" name="Text 36"/>
          <p:cNvSpPr/>
          <p:nvPr/>
        </p:nvSpPr>
        <p:spPr>
          <a:xfrm>
            <a:off x="1719072" y="4233672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8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app_permissions.json — 50+ apps curated</a:t>
            </a:r>
            <a:endParaRPr lang="en-US" sz="1050" dirty="0"/>
          </a:p>
        </p:txBody>
      </p:sp>
      <p:sp>
        <p:nvSpPr>
          <p:cNvPr id="40" name="Text 37"/>
          <p:cNvSpPr/>
          <p:nvPr/>
        </p:nvSpPr>
        <p:spPr>
          <a:xfrm>
            <a:off x="4663440" y="4233672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 —</a:t>
            </a:r>
            <a:endParaRPr lang="en-US" sz="1050" dirty="0"/>
          </a:p>
        </p:txBody>
      </p:sp>
      <p:sp>
        <p:nvSpPr>
          <p:cNvPr id="41" name="Text 38"/>
          <p:cNvSpPr/>
          <p:nvPr/>
        </p:nvSpPr>
        <p:spPr>
          <a:xfrm>
            <a:off x="5925312" y="4233672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8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Vercel (frontend) + Railway (backend)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5050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0" y="0"/>
            <a:ext cx="5029200" cy="25603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347472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kern="0" spc="200" dirty="0">
                <a:solidFill>
                  <a:srgbClr val="88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/  KEY FEATURES</a:t>
            </a:r>
            <a:endParaRPr lang="en-US" sz="950" dirty="0"/>
          </a:p>
        </p:txBody>
      </p:sp>
      <p:sp>
        <p:nvSpPr>
          <p:cNvPr id="4" name="Text 1"/>
          <p:cNvSpPr/>
          <p:nvPr/>
        </p:nvSpPr>
        <p:spPr>
          <a:xfrm>
            <a:off x="457200" y="685800"/>
            <a:ext cx="45720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Five innovations.</a:t>
            </a:r>
            <a:endParaRPr lang="en-US" sz="4000" dirty="0"/>
          </a:p>
        </p:txBody>
      </p:sp>
      <p:sp>
        <p:nvSpPr>
          <p:cNvPr id="5" name="Shape 2"/>
          <p:cNvSpPr/>
          <p:nvPr/>
        </p:nvSpPr>
        <p:spPr>
          <a:xfrm>
            <a:off x="457200" y="1572768"/>
            <a:ext cx="8321040" cy="10973"/>
          </a:xfrm>
          <a:prstGeom prst="rect">
            <a:avLst/>
          </a:prstGeom>
          <a:solidFill>
            <a:srgbClr val="8B5CF6">
              <a:alpha val="40000"/>
            </a:srgbClr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457200" y="1737360"/>
            <a:ext cx="548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8B5CF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01</a:t>
            </a:r>
            <a:endParaRPr lang="en-US" sz="2000" dirty="0"/>
          </a:p>
        </p:txBody>
      </p:sp>
      <p:sp>
        <p:nvSpPr>
          <p:cNvPr id="7" name="Shape 4"/>
          <p:cNvSpPr/>
          <p:nvPr/>
        </p:nvSpPr>
        <p:spPr>
          <a:xfrm>
            <a:off x="960120" y="1792224"/>
            <a:ext cx="16459" cy="411480"/>
          </a:xfrm>
          <a:prstGeom prst="rect">
            <a:avLst/>
          </a:prstGeom>
          <a:solidFill>
            <a:srgbClr val="8B5CF6">
              <a:alpha val="50000"/>
            </a:srgbClr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078992" y="173736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Zero-PII Input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3749040" y="1773936"/>
            <a:ext cx="1737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Innovation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1078992" y="2048256"/>
            <a:ext cx="7498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8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app name strings enter the pipeline. ArmorIQ blocks any PII before processing — enforced at code level.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457200" y="2414016"/>
            <a:ext cx="548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8B5CF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02</a:t>
            </a:r>
            <a:endParaRPr lang="en-US" sz="2000" dirty="0"/>
          </a:p>
        </p:txBody>
      </p:sp>
      <p:sp>
        <p:nvSpPr>
          <p:cNvPr id="12" name="Shape 9"/>
          <p:cNvSpPr/>
          <p:nvPr/>
        </p:nvSpPr>
        <p:spPr>
          <a:xfrm>
            <a:off x="960120" y="2468880"/>
            <a:ext cx="16459" cy="411480"/>
          </a:xfrm>
          <a:prstGeom prst="rect">
            <a:avLst/>
          </a:prstGeom>
          <a:solidFill>
            <a:srgbClr val="8B5CF6">
              <a:alpha val="50000"/>
            </a:srgbClr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1078992" y="2414016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GB" sz="1400" b="1" dirty="0">
                <a:solidFill>
                  <a:schemeClr val="bg1"/>
                </a:solidFill>
              </a:rPr>
              <a:t>Privacy Footprint Score</a:t>
            </a:r>
            <a:endParaRPr lang="en-US" sz="1400" b="1" dirty="0">
              <a:solidFill>
                <a:schemeClr val="bg1"/>
              </a:solidFill>
            </a:endParaRPr>
          </a:p>
        </p:txBody>
      </p:sp>
      <p:sp>
        <p:nvSpPr>
          <p:cNvPr id="14" name="Text 11"/>
          <p:cNvSpPr/>
          <p:nvPr/>
        </p:nvSpPr>
        <p:spPr>
          <a:xfrm>
            <a:off x="3749040" y="2450592"/>
            <a:ext cx="1737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/ Automation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1078992" y="2724912"/>
            <a:ext cx="7498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8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generates plain-English breakdowns with risk levels scored from real permission weights.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457200" y="3090672"/>
            <a:ext cx="548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8B5CF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03</a:t>
            </a:r>
            <a:endParaRPr lang="en-US" sz="2000" dirty="0"/>
          </a:p>
        </p:txBody>
      </p:sp>
      <p:sp>
        <p:nvSpPr>
          <p:cNvPr id="17" name="Shape 14"/>
          <p:cNvSpPr/>
          <p:nvPr/>
        </p:nvSpPr>
        <p:spPr>
          <a:xfrm>
            <a:off x="960120" y="3145536"/>
            <a:ext cx="16459" cy="411480"/>
          </a:xfrm>
          <a:prstGeom prst="rect">
            <a:avLst/>
          </a:prstGeom>
          <a:solidFill>
            <a:srgbClr val="8B5CF6">
              <a:alpha val="50000"/>
            </a:srgbClr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1078992" y="3090672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Multi-App Comparison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3749040" y="3127248"/>
            <a:ext cx="1737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Logic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1078992" y="3401568"/>
            <a:ext cx="7498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8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 up to 10 apps simultaneously, side-by-side. No current tool offers this capability.</a:t>
            </a:r>
            <a:endParaRPr lang="en-US" sz="1050" dirty="0"/>
          </a:p>
        </p:txBody>
      </p:sp>
      <p:sp>
        <p:nvSpPr>
          <p:cNvPr id="21" name="Text 18"/>
          <p:cNvSpPr/>
          <p:nvPr/>
        </p:nvSpPr>
        <p:spPr>
          <a:xfrm>
            <a:off x="457200" y="3767328"/>
            <a:ext cx="548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8B5CF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04</a:t>
            </a:r>
            <a:endParaRPr lang="en-US" sz="2000" dirty="0"/>
          </a:p>
        </p:txBody>
      </p:sp>
      <p:sp>
        <p:nvSpPr>
          <p:cNvPr id="22" name="Shape 19"/>
          <p:cNvSpPr/>
          <p:nvPr/>
        </p:nvSpPr>
        <p:spPr>
          <a:xfrm>
            <a:off x="960120" y="3822192"/>
            <a:ext cx="16459" cy="411480"/>
          </a:xfrm>
          <a:prstGeom prst="rect">
            <a:avLst/>
          </a:prstGeom>
          <a:solidFill>
            <a:srgbClr val="8B5CF6">
              <a:alpha val="50000"/>
            </a:srgbClr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1078992" y="3767328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Actionable Recommendations</a:t>
            </a:r>
            <a:endParaRPr lang="en-US" sz="1400" dirty="0"/>
          </a:p>
        </p:txBody>
      </p:sp>
      <p:sp>
        <p:nvSpPr>
          <p:cNvPr id="24" name="Text 21"/>
          <p:cNvSpPr/>
          <p:nvPr/>
        </p:nvSpPr>
        <p:spPr>
          <a:xfrm>
            <a:off x="3749040" y="3803904"/>
            <a:ext cx="1737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Impact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1078992" y="4078224"/>
            <a:ext cx="7498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8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result includes 'What you can do' — revoke permissions, switch alternatives, understand data brokers.</a:t>
            </a:r>
            <a:endParaRPr lang="en-US" sz="1050" dirty="0"/>
          </a:p>
        </p:txBody>
      </p:sp>
      <p:sp>
        <p:nvSpPr>
          <p:cNvPr id="26" name="Text 23"/>
          <p:cNvSpPr/>
          <p:nvPr/>
        </p:nvSpPr>
        <p:spPr>
          <a:xfrm>
            <a:off x="457200" y="4443984"/>
            <a:ext cx="548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8B5CF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05</a:t>
            </a:r>
            <a:endParaRPr lang="en-US" sz="2000" dirty="0"/>
          </a:p>
        </p:txBody>
      </p:sp>
      <p:sp>
        <p:nvSpPr>
          <p:cNvPr id="27" name="Shape 24"/>
          <p:cNvSpPr/>
          <p:nvPr/>
        </p:nvSpPr>
        <p:spPr>
          <a:xfrm>
            <a:off x="960120" y="4498848"/>
            <a:ext cx="16459" cy="411480"/>
          </a:xfrm>
          <a:prstGeom prst="rect">
            <a:avLst/>
          </a:prstGeom>
          <a:solidFill>
            <a:srgbClr val="8B5CF6">
              <a:alpha val="50000"/>
            </a:srgbClr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1078992" y="4443984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ArmorIQ Audit Trail</a:t>
            </a:r>
            <a:endParaRPr lang="en-US" sz="1400" dirty="0"/>
          </a:p>
        </p:txBody>
      </p:sp>
      <p:sp>
        <p:nvSpPr>
          <p:cNvPr id="29" name="Text 26"/>
          <p:cNvSpPr/>
          <p:nvPr/>
        </p:nvSpPr>
        <p:spPr>
          <a:xfrm>
            <a:off x="3749040" y="4480560"/>
            <a:ext cx="1737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Ready</a:t>
            </a:r>
            <a:endParaRPr lang="en-US" sz="900" dirty="0"/>
          </a:p>
        </p:txBody>
      </p:sp>
      <p:sp>
        <p:nvSpPr>
          <p:cNvPr id="30" name="Text 27"/>
          <p:cNvSpPr/>
          <p:nvPr/>
        </p:nvSpPr>
        <p:spPr>
          <a:xfrm>
            <a:off x="1078992" y="4754880"/>
            <a:ext cx="7498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8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request immutably logged — timestamp, input type, approval/block decision. Real audit chain.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5050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0" y="0"/>
            <a:ext cx="54864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347472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kern="0" spc="200" dirty="0">
                <a:solidFill>
                  <a:srgbClr val="88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 /  IMPACT + FEASIBILITY</a:t>
            </a:r>
            <a:endParaRPr lang="en-US" sz="950" dirty="0"/>
          </a:p>
        </p:txBody>
      </p:sp>
      <p:sp>
        <p:nvSpPr>
          <p:cNvPr id="4" name="Text 1"/>
          <p:cNvSpPr/>
          <p:nvPr/>
        </p:nvSpPr>
        <p:spPr>
          <a:xfrm>
            <a:off x="457200" y="685800"/>
            <a:ext cx="45720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Global scale,</a:t>
            </a:r>
            <a:endParaRPr lang="en-US" sz="4000" dirty="0"/>
          </a:p>
          <a:p>
            <a:pPr marL="0" indent="0">
              <a:buNone/>
            </a:pPr>
            <a:r>
              <a:rPr lang="en-US" sz="40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zero cost.</a:t>
            </a:r>
            <a:endParaRPr lang="en-US" sz="4000" dirty="0"/>
          </a:p>
        </p:txBody>
      </p:sp>
      <p:sp>
        <p:nvSpPr>
          <p:cNvPr id="5" name="Shape 2"/>
          <p:cNvSpPr/>
          <p:nvPr/>
        </p:nvSpPr>
        <p:spPr>
          <a:xfrm>
            <a:off x="457200" y="2011680"/>
            <a:ext cx="3657600" cy="10973"/>
          </a:xfrm>
          <a:prstGeom prst="rect">
            <a:avLst/>
          </a:prstGeom>
          <a:solidFill>
            <a:srgbClr val="8B5CF6">
              <a:alpha val="40000"/>
            </a:srgbClr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457200" y="2121408"/>
            <a:ext cx="18288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dirty="0">
                <a:solidFill>
                  <a:srgbClr val="A78BF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6.8B</a:t>
            </a:r>
            <a:endParaRPr lang="en-US" sz="4200" dirty="0"/>
          </a:p>
        </p:txBody>
      </p:sp>
      <p:sp>
        <p:nvSpPr>
          <p:cNvPr id="7" name="Text 4"/>
          <p:cNvSpPr/>
          <p:nvPr/>
        </p:nvSpPr>
        <p:spPr>
          <a:xfrm>
            <a:off x="457200" y="2889504"/>
            <a:ext cx="1828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8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smartphone users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88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benefit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2468880" y="2121408"/>
            <a:ext cx="18288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₹0</a:t>
            </a:r>
            <a:endParaRPr lang="en-US" sz="4200" dirty="0"/>
          </a:p>
        </p:txBody>
      </p:sp>
      <p:sp>
        <p:nvSpPr>
          <p:cNvPr id="9" name="Text 6"/>
          <p:cNvSpPr/>
          <p:nvPr/>
        </p:nvSpPr>
        <p:spPr>
          <a:xfrm>
            <a:off x="2468880" y="2889504"/>
            <a:ext cx="1828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8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to users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88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always free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457200" y="3429000"/>
            <a:ext cx="3657600" cy="10973"/>
          </a:xfrm>
          <a:prstGeom prst="rect">
            <a:avLst/>
          </a:prstGeom>
          <a:solidFill>
            <a:srgbClr val="8B5CF6">
              <a:alpha val="40000"/>
            </a:srgbClr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57200" y="356616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Benefits  —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2395728" y="35661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 users · Corporate IT · Parents · Researchers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457200" y="3950208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Impact  —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2395728" y="3950208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Makes India's DPDP Act 2023 'right to know' actually actionable for all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457200" y="4334256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Scalability  —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2395728" y="4334256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1000+ apps via CSV · Multi-language · Browser extension · B2B SaaS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457200" y="4718304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Feasibility  —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2395728" y="4718304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Vercel + Railway free tiers = ₹0 deploy · API ~₹0.003/req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5050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0" y="8313"/>
            <a:ext cx="59436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347472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kern="0" spc="200" dirty="0">
                <a:solidFill>
                  <a:srgbClr val="88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 /  DEMO + CONCLUSION</a:t>
            </a:r>
            <a:endParaRPr lang="en-US" sz="950" dirty="0"/>
          </a:p>
        </p:txBody>
      </p:sp>
      <p:sp>
        <p:nvSpPr>
          <p:cNvPr id="4" name="Text 1"/>
          <p:cNvSpPr/>
          <p:nvPr/>
        </p:nvSpPr>
        <p:spPr>
          <a:xfrm>
            <a:off x="457200" y="685800"/>
            <a:ext cx="45720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See it live.</a:t>
            </a:r>
            <a:endParaRPr lang="en-US" sz="4000" dirty="0"/>
          </a:p>
        </p:txBody>
      </p:sp>
      <p:sp>
        <p:nvSpPr>
          <p:cNvPr id="5" name="Shape 2"/>
          <p:cNvSpPr/>
          <p:nvPr/>
        </p:nvSpPr>
        <p:spPr>
          <a:xfrm>
            <a:off x="457200" y="1572768"/>
            <a:ext cx="8321040" cy="10973"/>
          </a:xfrm>
          <a:prstGeom prst="rect">
            <a:avLst/>
          </a:prstGeom>
          <a:solidFill>
            <a:srgbClr val="8B5CF6">
              <a:alpha val="40000"/>
            </a:srgbClr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457200" y="1719072"/>
            <a:ext cx="502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B5CF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01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914400" y="1792224"/>
            <a:ext cx="16459" cy="292608"/>
          </a:xfrm>
          <a:prstGeom prst="rect">
            <a:avLst/>
          </a:prstGeom>
          <a:solidFill>
            <a:srgbClr val="8B5CF6">
              <a:alpha val="50000"/>
            </a:srgbClr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024128" y="1719072"/>
            <a:ext cx="5029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E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ConsentLens in browser — no login needed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457200" y="2212848"/>
            <a:ext cx="502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B5CF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02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914400" y="2286000"/>
            <a:ext cx="16459" cy="292608"/>
          </a:xfrm>
          <a:prstGeom prst="rect">
            <a:avLst/>
          </a:prstGeom>
          <a:solidFill>
            <a:srgbClr val="8B5CF6">
              <a:alpha val="50000"/>
            </a:srgbClr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024128" y="2212848"/>
            <a:ext cx="5029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E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Type: Instagram, </a:t>
            </a:r>
            <a:r>
              <a:rPr lang="en-US" sz="1200" dirty="0" err="1">
                <a:solidFill>
                  <a:srgbClr val="E8E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Truecaller</a:t>
            </a:r>
            <a:r>
              <a:rPr lang="en-US" sz="1200" dirty="0">
                <a:solidFill>
                  <a:srgbClr val="E8E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etc. → hit Analyze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457200" y="2706624"/>
            <a:ext cx="502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B5CF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03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914400" y="2779776"/>
            <a:ext cx="16459" cy="292608"/>
          </a:xfrm>
          <a:prstGeom prst="rect">
            <a:avLst/>
          </a:prstGeom>
          <a:solidFill>
            <a:srgbClr val="8B5CF6">
              <a:alpha val="50000"/>
            </a:srgbClr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024128" y="2706624"/>
            <a:ext cx="5029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E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ArmorIQ approves — audit log confirms in real time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457200" y="3200400"/>
            <a:ext cx="502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B5CF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04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914400" y="3273552"/>
            <a:ext cx="16459" cy="292608"/>
          </a:xfrm>
          <a:prstGeom prst="rect">
            <a:avLst/>
          </a:prstGeom>
          <a:solidFill>
            <a:srgbClr val="8B5CF6">
              <a:alpha val="50000"/>
            </a:srgbClr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1024128" y="3200400"/>
            <a:ext cx="5029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E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risk cards: CRITICAL, HIGH, HIGH — instantly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457200" y="3694176"/>
            <a:ext cx="502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B5CF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05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914400" y="3767328"/>
            <a:ext cx="16459" cy="292608"/>
          </a:xfrm>
          <a:prstGeom prst="rect">
            <a:avLst/>
          </a:prstGeom>
          <a:solidFill>
            <a:srgbClr val="8B5CF6">
              <a:alpha val="50000"/>
            </a:srgbClr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1024128" y="3694176"/>
            <a:ext cx="5029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E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 Instagram → read Claude's plain explanation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457200" y="4187952"/>
            <a:ext cx="502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B5CF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06</a:t>
            </a:r>
            <a:endParaRPr lang="en-US" sz="1300" dirty="0"/>
          </a:p>
        </p:txBody>
      </p:sp>
      <p:sp>
        <p:nvSpPr>
          <p:cNvPr id="22" name="Shape 19"/>
          <p:cNvSpPr/>
          <p:nvPr/>
        </p:nvSpPr>
        <p:spPr>
          <a:xfrm>
            <a:off x="914400" y="4261104"/>
            <a:ext cx="16459" cy="292608"/>
          </a:xfrm>
          <a:prstGeom prst="rect">
            <a:avLst/>
          </a:prstGeom>
          <a:solidFill>
            <a:srgbClr val="8B5CF6">
              <a:alpha val="50000"/>
            </a:srgbClr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1024128" y="4187952"/>
            <a:ext cx="5029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your email → ArmorIQ BLOCKS it live 🔒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5934456" y="1553729"/>
            <a:ext cx="29260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"ConsentLens makes the</a:t>
            </a:r>
            <a:endParaRPr lang="en-US" sz="1600" dirty="0"/>
          </a:p>
          <a:p>
            <a:pPr marL="0" indent="0">
              <a:buNone/>
            </a:pPr>
            <a:r>
              <a:rPr lang="en-US" sz="1600" i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invisible visible."</a:t>
            </a:r>
            <a:endParaRPr lang="en-US" sz="1600" dirty="0"/>
          </a:p>
        </p:txBody>
      </p:sp>
      <p:sp>
        <p:nvSpPr>
          <p:cNvPr id="25" name="Shape 22"/>
          <p:cNvSpPr/>
          <p:nvPr/>
        </p:nvSpPr>
        <p:spPr>
          <a:xfrm>
            <a:off x="5934456" y="2758993"/>
            <a:ext cx="2743200" cy="10973"/>
          </a:xfrm>
          <a:prstGeom prst="rect">
            <a:avLst/>
          </a:prstGeom>
          <a:solidFill>
            <a:srgbClr val="A78BFA">
              <a:alpha val="60000"/>
            </a:srgbClr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943600" y="2786551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select us</a:t>
            </a:r>
            <a:endParaRPr lang="en-US" sz="1200" dirty="0"/>
          </a:p>
        </p:txBody>
      </p:sp>
      <p:sp>
        <p:nvSpPr>
          <p:cNvPr id="28" name="Text 25"/>
          <p:cNvSpPr/>
          <p:nvPr/>
        </p:nvSpPr>
        <p:spPr>
          <a:xfrm>
            <a:off x="5920322" y="366770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kern="0" spc="50" dirty="0">
                <a:solidFill>
                  <a:srgbClr val="88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</a:t>
            </a:r>
            <a:r>
              <a:rPr lang="en-GB" sz="1100" dirty="0">
                <a:solidFill>
                  <a:srgbClr val="656474"/>
                </a:solidFill>
              </a:rPr>
              <a:t>Solves a problem every smartphone user faces</a:t>
            </a:r>
          </a:p>
          <a:p>
            <a:endParaRPr lang="en-GB" sz="1100" dirty="0">
              <a:solidFill>
                <a:srgbClr val="656474"/>
              </a:solidFill>
            </a:endParaRPr>
          </a:p>
          <a:p>
            <a:r>
              <a:rPr lang="en-GB" sz="1100" dirty="0">
                <a:solidFill>
                  <a:srgbClr val="656474"/>
                </a:solidFill>
              </a:rPr>
              <a:t> </a:t>
            </a:r>
            <a:r>
              <a:rPr lang="en-US" sz="1100" kern="0" spc="50" dirty="0">
                <a:solidFill>
                  <a:srgbClr val="88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</a:t>
            </a:r>
            <a:r>
              <a:rPr lang="en-GB" sz="1100" dirty="0">
                <a:solidFill>
                  <a:srgbClr val="656474"/>
                </a:solidFill>
              </a:rPr>
              <a:t>Uses </a:t>
            </a:r>
            <a:r>
              <a:rPr lang="en-GB" sz="1100" b="1" dirty="0" err="1">
                <a:solidFill>
                  <a:srgbClr val="656474"/>
                </a:solidFill>
              </a:rPr>
              <a:t>ArmorIQ</a:t>
            </a:r>
            <a:r>
              <a:rPr lang="en-GB" sz="1100" dirty="0">
                <a:solidFill>
                  <a:srgbClr val="656474"/>
                </a:solidFill>
              </a:rPr>
              <a:t> as a core security layer</a:t>
            </a:r>
          </a:p>
          <a:p>
            <a:endParaRPr lang="en-GB" sz="1100" dirty="0">
              <a:solidFill>
                <a:srgbClr val="656474"/>
              </a:solidFill>
            </a:endParaRPr>
          </a:p>
          <a:p>
            <a:r>
              <a:rPr lang="en-GB" sz="1100" dirty="0">
                <a:solidFill>
                  <a:srgbClr val="656474"/>
                </a:solidFill>
              </a:rPr>
              <a:t> </a:t>
            </a:r>
            <a:r>
              <a:rPr lang="en-US" sz="1100" kern="0" spc="50" dirty="0">
                <a:solidFill>
                  <a:srgbClr val="88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</a:t>
            </a:r>
            <a:r>
              <a:rPr lang="en-GB" sz="1100" dirty="0">
                <a:solidFill>
                  <a:srgbClr val="656474"/>
                </a:solidFill>
              </a:rPr>
              <a:t>Working prototype, not just slides</a:t>
            </a:r>
          </a:p>
          <a:p>
            <a:endParaRPr lang="en-GB" sz="1100" dirty="0">
              <a:solidFill>
                <a:srgbClr val="656474"/>
              </a:solidFill>
            </a:endParaRPr>
          </a:p>
          <a:p>
            <a:r>
              <a:rPr lang="en-GB" sz="1100" dirty="0">
                <a:solidFill>
                  <a:srgbClr val="656474"/>
                </a:solidFill>
              </a:rPr>
              <a:t> </a:t>
            </a:r>
            <a:r>
              <a:rPr lang="en-US" sz="1100" kern="0" spc="50" dirty="0">
                <a:solidFill>
                  <a:srgbClr val="88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</a:t>
            </a:r>
            <a:r>
              <a:rPr lang="en-GB" sz="1100" dirty="0">
                <a:solidFill>
                  <a:srgbClr val="656474"/>
                </a:solidFill>
              </a:rPr>
              <a:t>Makes privacy understandable for everyone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</TotalTime>
  <Words>805</Words>
  <Application>Microsoft Office PowerPoint</Application>
  <PresentationFormat>On-screen Show (16:9)</PresentationFormat>
  <Paragraphs>160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ConsentLens</dc:title>
  <dc:subject>PptxGenJS Presentation</dc:subject>
  <dc:creator>PptxGenJS</dc:creator>
  <cp:lastModifiedBy>Deepak Kumar</cp:lastModifiedBy>
  <cp:revision>2</cp:revision>
  <dcterms:created xsi:type="dcterms:W3CDTF">2026-06-14T02:58:31Z</dcterms:created>
  <dcterms:modified xsi:type="dcterms:W3CDTF">2026-06-14T03:36:57Z</dcterms:modified>
</cp:coreProperties>
</file>